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7" r:id="rId4"/>
    <p:sldId id="258" r:id="rId5"/>
    <p:sldId id="259" r:id="rId6"/>
    <p:sldId id="260" r:id="rId7"/>
    <p:sldId id="262" r:id="rId8"/>
    <p:sldId id="261" r:id="rId9"/>
    <p:sldId id="264" r:id="rId10"/>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7971AA-53EA-49F0-BE6B-28AB525D63F6}" v="23" dt="2026-06-29T04:43:40.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6/28/2026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250341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6/28/2026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81896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6/28/2026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953587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6/28/2026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49567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6/28/2026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713294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6/28/2026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80508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6/28/2026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540937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6/28/2026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01315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6/28/2026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68249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6/28/2026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230938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6/28/2026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8121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6/28/2026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60371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BF48EC-060C-BFBC-97B5-956A0DA60B3E}"/>
              </a:ext>
            </a:extLst>
          </p:cNvPr>
          <p:cNvSpPr>
            <a:spLocks noGrp="1"/>
          </p:cNvSpPr>
          <p:nvPr>
            <p:ph type="ctrTitle"/>
          </p:nvPr>
        </p:nvSpPr>
        <p:spPr>
          <a:xfrm>
            <a:off x="703400" y="871758"/>
            <a:ext cx="5227171" cy="3871143"/>
          </a:xfrm>
        </p:spPr>
        <p:txBody>
          <a:bodyPr>
            <a:normAutofit/>
          </a:bodyPr>
          <a:lstStyle/>
          <a:p>
            <a:r>
              <a:rPr lang="es-ES" dirty="0">
                <a:latin typeface="Rye" panose="020E0803070500060000" pitchFamily="34" charset="0"/>
              </a:rPr>
              <a:t>Cortesana </a:t>
            </a:r>
            <a:endParaRPr lang="es-CR" dirty="0">
              <a:latin typeface="Rye" panose="020E0803070500060000" pitchFamily="34" charset="0"/>
            </a:endParaRPr>
          </a:p>
        </p:txBody>
      </p:sp>
      <p:sp>
        <p:nvSpPr>
          <p:cNvPr id="3" name="Subtítulo 2">
            <a:extLst>
              <a:ext uri="{FF2B5EF4-FFF2-40B4-BE49-F238E27FC236}">
                <a16:creationId xmlns:a16="http://schemas.microsoft.com/office/drawing/2014/main" id="{FD8DD714-A5D0-5D36-44CC-0C7E093B391C}"/>
              </a:ext>
            </a:extLst>
          </p:cNvPr>
          <p:cNvSpPr>
            <a:spLocks noGrp="1"/>
          </p:cNvSpPr>
          <p:nvPr>
            <p:ph type="subTitle" idx="1"/>
          </p:nvPr>
        </p:nvSpPr>
        <p:spPr>
          <a:xfrm>
            <a:off x="721688" y="3667433"/>
            <a:ext cx="4857857" cy="2123768"/>
          </a:xfrm>
        </p:spPr>
        <p:txBody>
          <a:bodyPr>
            <a:normAutofit/>
          </a:bodyPr>
          <a:lstStyle/>
          <a:p>
            <a:r>
              <a:rPr lang="es-ES" dirty="0"/>
              <a:t>Dilan Alvarado Bianco</a:t>
            </a:r>
          </a:p>
          <a:p>
            <a:r>
              <a:rPr lang="es-ES" dirty="0"/>
              <a:t>Pagina Web</a:t>
            </a:r>
          </a:p>
          <a:p>
            <a:r>
              <a:rPr lang="es-ES" dirty="0"/>
              <a:t>Presentación prototipo </a:t>
            </a:r>
          </a:p>
          <a:p>
            <a:endParaRPr lang="es-CR" dirty="0"/>
          </a:p>
        </p:txBody>
      </p:sp>
      <p:cxnSp>
        <p:nvCxnSpPr>
          <p:cNvPr id="12" name="Straight Connector 1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F9007170-043F-0409-133C-865ABF8281F2}"/>
              </a:ext>
            </a:extLst>
          </p:cNvPr>
          <p:cNvPicPr>
            <a:picLocks noChangeAspect="1"/>
          </p:cNvPicPr>
          <p:nvPr/>
        </p:nvPicPr>
        <p:blipFill>
          <a:blip r:embed="rId2">
            <a:extLst>
              <a:ext uri="{28A0092B-C50C-407E-A947-70E740481C1C}">
                <a14:useLocalDpi xmlns:a14="http://schemas.microsoft.com/office/drawing/2010/main" val="0"/>
              </a:ext>
            </a:extLst>
          </a:blip>
          <a:srcRect l="10660" r="10308"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242307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58671-9CF2-BEC9-2CB0-B124CC9317E7}"/>
              </a:ext>
            </a:extLst>
          </p:cNvPr>
          <p:cNvSpPr>
            <a:spLocks noGrp="1"/>
          </p:cNvSpPr>
          <p:nvPr>
            <p:ph type="title"/>
          </p:nvPr>
        </p:nvSpPr>
        <p:spPr>
          <a:xfrm>
            <a:off x="700635" y="914400"/>
            <a:ext cx="10691265" cy="1307592"/>
          </a:xfrm>
        </p:spPr>
        <p:txBody>
          <a:bodyPr/>
          <a:lstStyle/>
          <a:p>
            <a:r>
              <a:rPr lang="es-ES" dirty="0"/>
              <a:t>Introducción</a:t>
            </a:r>
            <a:endParaRPr lang="es-CR" dirty="0"/>
          </a:p>
        </p:txBody>
      </p:sp>
      <p:sp>
        <p:nvSpPr>
          <p:cNvPr id="3" name="Marcador de contenido 2">
            <a:extLst>
              <a:ext uri="{FF2B5EF4-FFF2-40B4-BE49-F238E27FC236}">
                <a16:creationId xmlns:a16="http://schemas.microsoft.com/office/drawing/2014/main" id="{6D3EBD2E-9077-6B35-4A47-2188535AA835}"/>
              </a:ext>
            </a:extLst>
          </p:cNvPr>
          <p:cNvSpPr>
            <a:spLocks noGrp="1"/>
          </p:cNvSpPr>
          <p:nvPr>
            <p:ph idx="1"/>
          </p:nvPr>
        </p:nvSpPr>
        <p:spPr/>
        <p:txBody>
          <a:bodyPr/>
          <a:lstStyle/>
          <a:p>
            <a:pPr marL="0" indent="0">
              <a:buNone/>
            </a:pPr>
            <a:r>
              <a:rPr lang="es-CR" dirty="0"/>
              <a:t>Les presento Cortesana, un proyecto de prototipado web en Figma diseñado para una tienda de muebles de madera. El objetivo principal de este trabajo fue romper las barreras digitales que sufren los adultos mayores al comprar en línea. Para lograrlo, creé un prototipo interactivo enfocado al 100% en la accesibilidad, implementando soluciones prácticas como tipografías grandes, botones maximizados y un alto contraste de colores para garantizar una navegación cómoda, intuitiva y segura.</a:t>
            </a:r>
          </a:p>
        </p:txBody>
      </p:sp>
    </p:spTree>
    <p:extLst>
      <p:ext uri="{BB962C8B-B14F-4D97-AF65-F5344CB8AC3E}">
        <p14:creationId xmlns:p14="http://schemas.microsoft.com/office/powerpoint/2010/main" val="1259728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CFABF8-A683-39E2-EA12-FA4EDBEE9F72}"/>
              </a:ext>
            </a:extLst>
          </p:cNvPr>
          <p:cNvSpPr>
            <a:spLocks noGrp="1"/>
          </p:cNvSpPr>
          <p:nvPr>
            <p:ph type="title"/>
          </p:nvPr>
        </p:nvSpPr>
        <p:spPr/>
        <p:txBody>
          <a:bodyPr>
            <a:normAutofit fontScale="90000"/>
          </a:bodyPr>
          <a:lstStyle/>
          <a:p>
            <a:r>
              <a:rPr lang="es-ES" dirty="0"/>
              <a:t>Investigación </a:t>
            </a:r>
            <a:br>
              <a:rPr lang="es-ES" dirty="0"/>
            </a:br>
            <a:endParaRPr lang="es-CR" dirty="0"/>
          </a:p>
        </p:txBody>
      </p:sp>
      <p:sp>
        <p:nvSpPr>
          <p:cNvPr id="3" name="Marcador de contenido 2">
            <a:extLst>
              <a:ext uri="{FF2B5EF4-FFF2-40B4-BE49-F238E27FC236}">
                <a16:creationId xmlns:a16="http://schemas.microsoft.com/office/drawing/2014/main" id="{E45F06B6-B0B0-000F-0704-B9A7AE066211}"/>
              </a:ext>
            </a:extLst>
          </p:cNvPr>
          <p:cNvSpPr>
            <a:spLocks noGrp="1"/>
          </p:cNvSpPr>
          <p:nvPr>
            <p:ph idx="1"/>
          </p:nvPr>
        </p:nvSpPr>
        <p:spPr>
          <a:xfrm>
            <a:off x="314633" y="1681316"/>
            <a:ext cx="11680722" cy="4650658"/>
          </a:xfrm>
        </p:spPr>
        <p:txBody>
          <a:bodyPr>
            <a:normAutofit/>
          </a:bodyPr>
          <a:lstStyle/>
          <a:p>
            <a:pPr marL="0" indent="0">
              <a:buNone/>
            </a:pPr>
            <a:r>
              <a:rPr lang="es-CR" dirty="0"/>
              <a:t>Este proyecto lo realicé para diseñar una tienda en línea de muebles de madera enfocada en un público</a:t>
            </a:r>
            <a:r>
              <a:rPr lang="es-CR" b="1" dirty="0"/>
              <a:t> </a:t>
            </a:r>
            <a:r>
              <a:rPr lang="es-CR" dirty="0"/>
              <a:t>de adultos y adultos mayores (45 a 65+ años). Decidí elegir este tema porque este sector suele abandonar las páginas web debido a la fatiga visual, las letras chiquitas y las interfaces confusas.</a:t>
            </a:r>
          </a:p>
          <a:p>
            <a:pPr marL="0" indent="0">
              <a:buNone/>
            </a:pPr>
            <a:r>
              <a:rPr lang="es-CR" dirty="0"/>
              <a:t>Para ayudarlos, mi racional creativo se centró en dos pilares de accesibilidad:</a:t>
            </a:r>
          </a:p>
          <a:p>
            <a:pPr marL="0" indent="0">
              <a:buNone/>
            </a:pPr>
            <a:r>
              <a:rPr lang="es-CR" dirty="0"/>
              <a:t>Tipografía y Letra Grande: Usé la fuente Rye en los títulos para darle ese estilo rústico y artesanal de la madera, y combiné la fuente Montserrat en tamaños grandes (18px a 20px) para el texto de cuerpo, asegurando que sea muy clara y fácil de leer.</a:t>
            </a:r>
          </a:p>
          <a:p>
            <a:pPr marL="0" indent="0">
              <a:buNone/>
            </a:pPr>
            <a:r>
              <a:rPr lang="es-CR" dirty="0"/>
              <a:t>Alto Contraste de Colores: Diseñé una paleta de tonos beige y marrones con un alto contraste cromático estricto, para que las personas con capacidad visual reducida distingan todo de buena manera </a:t>
            </a:r>
          </a:p>
          <a:p>
            <a:pPr marL="0" indent="0">
              <a:buNone/>
            </a:pPr>
            <a:endParaRPr lang="es-CR" dirty="0"/>
          </a:p>
        </p:txBody>
      </p:sp>
    </p:spTree>
    <p:extLst>
      <p:ext uri="{BB962C8B-B14F-4D97-AF65-F5344CB8AC3E}">
        <p14:creationId xmlns:p14="http://schemas.microsoft.com/office/powerpoint/2010/main" val="2007590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579CE2-AFBD-B3ED-7665-AD51EFB09158}"/>
              </a:ext>
            </a:extLst>
          </p:cNvPr>
          <p:cNvSpPr>
            <a:spLocks noGrp="1"/>
          </p:cNvSpPr>
          <p:nvPr>
            <p:ph type="title"/>
          </p:nvPr>
        </p:nvSpPr>
        <p:spPr/>
        <p:txBody>
          <a:bodyPr>
            <a:normAutofit/>
          </a:bodyPr>
          <a:lstStyle/>
          <a:p>
            <a:r>
              <a:rPr lang="es-CR" dirty="0"/>
              <a:t> Sketches </a:t>
            </a:r>
            <a:r>
              <a:rPr lang="es-CR" dirty="0" err="1"/>
              <a:t>Wireframes</a:t>
            </a:r>
            <a:r>
              <a:rPr lang="es-CR" dirty="0"/>
              <a:t> y Mockups</a:t>
            </a:r>
          </a:p>
        </p:txBody>
      </p:sp>
      <p:pic>
        <p:nvPicPr>
          <p:cNvPr id="5" name="Marcador de contenido 4">
            <a:extLst>
              <a:ext uri="{FF2B5EF4-FFF2-40B4-BE49-F238E27FC236}">
                <a16:creationId xmlns:a16="http://schemas.microsoft.com/office/drawing/2014/main" id="{D2ECDA51-B923-D88D-AC10-0A02AA9127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009" y="2788818"/>
            <a:ext cx="5559488" cy="3154782"/>
          </a:xfrm>
          <a:prstGeom prst="rect">
            <a:avLst/>
          </a:prstGeom>
        </p:spPr>
      </p:pic>
      <p:pic>
        <p:nvPicPr>
          <p:cNvPr id="7" name="Imagen 6">
            <a:extLst>
              <a:ext uri="{FF2B5EF4-FFF2-40B4-BE49-F238E27FC236}">
                <a16:creationId xmlns:a16="http://schemas.microsoft.com/office/drawing/2014/main" id="{28B4CDAA-A8E5-E5D5-6F98-4F08BC8F3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497" y="3062816"/>
            <a:ext cx="3342009" cy="2609062"/>
          </a:xfrm>
          <a:prstGeom prst="rect">
            <a:avLst/>
          </a:prstGeom>
        </p:spPr>
      </p:pic>
      <p:pic>
        <p:nvPicPr>
          <p:cNvPr id="9" name="Imagen 8">
            <a:extLst>
              <a:ext uri="{FF2B5EF4-FFF2-40B4-BE49-F238E27FC236}">
                <a16:creationId xmlns:a16="http://schemas.microsoft.com/office/drawing/2014/main" id="{46AC1216-FBA1-ECB7-6495-6D1C3A1F4E76}"/>
              </a:ext>
            </a:extLst>
          </p:cNvPr>
          <p:cNvPicPr>
            <a:picLocks noChangeAspect="1"/>
          </p:cNvPicPr>
          <p:nvPr/>
        </p:nvPicPr>
        <p:blipFill>
          <a:blip r:embed="rId4">
            <a:extLst>
              <a:ext uri="{28A0092B-C50C-407E-A947-70E740481C1C}">
                <a14:useLocalDpi xmlns:a14="http://schemas.microsoft.com/office/drawing/2010/main" val="0"/>
              </a:ext>
            </a:extLst>
          </a:blip>
          <a:srcRect l="12237" t="7842" r="8457" b="4232"/>
          <a:stretch>
            <a:fillRect/>
          </a:stretch>
        </p:blipFill>
        <p:spPr>
          <a:xfrm>
            <a:off x="9939332" y="2925817"/>
            <a:ext cx="1627833" cy="2880784"/>
          </a:xfrm>
          <a:prstGeom prst="rect">
            <a:avLst/>
          </a:prstGeom>
        </p:spPr>
      </p:pic>
      <p:sp>
        <p:nvSpPr>
          <p:cNvPr id="10" name="CuadroTexto 9">
            <a:extLst>
              <a:ext uri="{FF2B5EF4-FFF2-40B4-BE49-F238E27FC236}">
                <a16:creationId xmlns:a16="http://schemas.microsoft.com/office/drawing/2014/main" id="{D3F34C41-7609-69E7-2741-D8FAE5B0876B}"/>
              </a:ext>
            </a:extLst>
          </p:cNvPr>
          <p:cNvSpPr txBox="1"/>
          <p:nvPr/>
        </p:nvSpPr>
        <p:spPr>
          <a:xfrm>
            <a:off x="944545" y="1909187"/>
            <a:ext cx="8370277" cy="646331"/>
          </a:xfrm>
          <a:prstGeom prst="rect">
            <a:avLst/>
          </a:prstGeom>
          <a:noFill/>
        </p:spPr>
        <p:txBody>
          <a:bodyPr wrap="square" rtlCol="0">
            <a:spAutoFit/>
          </a:bodyPr>
          <a:lstStyle/>
          <a:p>
            <a:r>
              <a:rPr lang="es-ES" dirty="0"/>
              <a:t>	Utilice </a:t>
            </a:r>
            <a:r>
              <a:rPr lang="es-ES" dirty="0" err="1"/>
              <a:t>pencil</a:t>
            </a:r>
            <a:r>
              <a:rPr lang="es-ES" dirty="0"/>
              <a:t> para la creación del mockup y del </a:t>
            </a:r>
            <a:r>
              <a:rPr lang="es-ES" dirty="0" err="1"/>
              <a:t>wireframe</a:t>
            </a:r>
            <a:endParaRPr lang="es-ES" dirty="0"/>
          </a:p>
          <a:p>
            <a:endParaRPr lang="es-CR" dirty="0"/>
          </a:p>
        </p:txBody>
      </p:sp>
    </p:spTree>
    <p:extLst>
      <p:ext uri="{BB962C8B-B14F-4D97-AF65-F5344CB8AC3E}">
        <p14:creationId xmlns:p14="http://schemas.microsoft.com/office/powerpoint/2010/main" val="158322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36F99-9D83-2B86-D8C8-3ACF2B0AFD45}"/>
              </a:ext>
            </a:extLst>
          </p:cNvPr>
          <p:cNvSpPr>
            <a:spLocks noGrp="1"/>
          </p:cNvSpPr>
          <p:nvPr>
            <p:ph type="title"/>
          </p:nvPr>
        </p:nvSpPr>
        <p:spPr>
          <a:xfrm>
            <a:off x="700635" y="914400"/>
            <a:ext cx="10691265" cy="753626"/>
          </a:xfrm>
        </p:spPr>
        <p:txBody>
          <a:bodyPr/>
          <a:lstStyle/>
          <a:p>
            <a:r>
              <a:rPr lang="es-ES" dirty="0"/>
              <a:t>Prototipo Figma </a:t>
            </a:r>
            <a:endParaRPr lang="es-CR" dirty="0"/>
          </a:p>
        </p:txBody>
      </p:sp>
      <p:pic>
        <p:nvPicPr>
          <p:cNvPr id="5" name="Marcador de contenido 4">
            <a:extLst>
              <a:ext uri="{FF2B5EF4-FFF2-40B4-BE49-F238E27FC236}">
                <a16:creationId xmlns:a16="http://schemas.microsoft.com/office/drawing/2014/main" id="{2E1DE72F-0393-5BD1-5734-DBC4FF7CE1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9670" y="3818374"/>
            <a:ext cx="7928149" cy="2144275"/>
          </a:xfrm>
          <a:prstGeom prst="rect">
            <a:avLst/>
          </a:prstGeom>
        </p:spPr>
      </p:pic>
      <p:sp>
        <p:nvSpPr>
          <p:cNvPr id="6" name="CuadroTexto 5">
            <a:extLst>
              <a:ext uri="{FF2B5EF4-FFF2-40B4-BE49-F238E27FC236}">
                <a16:creationId xmlns:a16="http://schemas.microsoft.com/office/drawing/2014/main" id="{BD5160BA-7D44-DAFE-44B5-7C17AAE10B75}"/>
              </a:ext>
            </a:extLst>
          </p:cNvPr>
          <p:cNvSpPr txBox="1"/>
          <p:nvPr/>
        </p:nvSpPr>
        <p:spPr>
          <a:xfrm>
            <a:off x="700636" y="1848897"/>
            <a:ext cx="10463082" cy="1754326"/>
          </a:xfrm>
          <a:prstGeom prst="rect">
            <a:avLst/>
          </a:prstGeom>
          <a:noFill/>
        </p:spPr>
        <p:txBody>
          <a:bodyPr wrap="square" rtlCol="0">
            <a:spAutoFit/>
          </a:bodyPr>
          <a:lstStyle/>
          <a:p>
            <a:r>
              <a:rPr lang="es-CR" dirty="0"/>
              <a:t>Para armar el diseño de Cortesana, utilicé Figma que es una herramienta de diseño web ideal para prototipar</a:t>
            </a:r>
          </a:p>
          <a:p>
            <a:r>
              <a:rPr lang="es-CR" dirty="0"/>
              <a:t> Elegí esta plataforma porque tiene bastantes usos útiles, como la facilidad de crear un sistema de diseño ordenado y probar los botones e interacciones en tiempo real antes de programar. Esto me permitió simular exactamente cómo navegaría un adulto mayor y asegurar que la letra grande y los contrastes funcionaran perfectamente antes de dar el proyecto por terminado.</a:t>
            </a:r>
          </a:p>
        </p:txBody>
      </p:sp>
    </p:spTree>
    <p:extLst>
      <p:ext uri="{BB962C8B-B14F-4D97-AF65-F5344CB8AC3E}">
        <p14:creationId xmlns:p14="http://schemas.microsoft.com/office/powerpoint/2010/main" val="1837599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FBBCAB-86BB-E4F8-6649-9545D915C48E}"/>
              </a:ext>
            </a:extLst>
          </p:cNvPr>
          <p:cNvSpPr>
            <a:spLocks noGrp="1"/>
          </p:cNvSpPr>
          <p:nvPr>
            <p:ph type="title"/>
          </p:nvPr>
        </p:nvSpPr>
        <p:spPr/>
        <p:txBody>
          <a:bodyPr>
            <a:normAutofit fontScale="90000"/>
          </a:bodyPr>
          <a:lstStyle/>
          <a:p>
            <a:r>
              <a:rPr lang="es-ES" dirty="0"/>
              <a:t>Guia estilo y diseño </a:t>
            </a:r>
            <a:br>
              <a:rPr lang="es-ES" dirty="0"/>
            </a:br>
            <a:endParaRPr lang="es-CR" dirty="0"/>
          </a:p>
        </p:txBody>
      </p:sp>
      <p:sp>
        <p:nvSpPr>
          <p:cNvPr id="3" name="Marcador de contenido 2">
            <a:extLst>
              <a:ext uri="{FF2B5EF4-FFF2-40B4-BE49-F238E27FC236}">
                <a16:creationId xmlns:a16="http://schemas.microsoft.com/office/drawing/2014/main" id="{780D403D-2512-0C0D-92F4-BD13A6A52E6A}"/>
              </a:ext>
            </a:extLst>
          </p:cNvPr>
          <p:cNvSpPr>
            <a:spLocks noGrp="1"/>
          </p:cNvSpPr>
          <p:nvPr>
            <p:ph idx="1"/>
          </p:nvPr>
        </p:nvSpPr>
        <p:spPr>
          <a:xfrm>
            <a:off x="176981" y="1769815"/>
            <a:ext cx="11214919" cy="956485"/>
          </a:xfrm>
        </p:spPr>
        <p:txBody>
          <a:bodyPr>
            <a:normAutofit fontScale="62500" lnSpcReduction="20000"/>
          </a:bodyPr>
          <a:lstStyle/>
          <a:p>
            <a:pPr marL="0" indent="0">
              <a:buNone/>
            </a:pPr>
            <a:r>
              <a:rPr lang="es-ES" dirty="0"/>
              <a:t>La paleta de colores la escogí siguiendo la temática de colores de la madera , además trate de escoger una tipografía que fuera de la mano escogiendo RYE y  Monserrat como las mas indicadas.</a:t>
            </a:r>
          </a:p>
          <a:p>
            <a:pPr marL="0" indent="0">
              <a:buNone/>
            </a:pPr>
            <a:r>
              <a:rPr lang="es-ES" dirty="0"/>
              <a:t>La </a:t>
            </a:r>
            <a:r>
              <a:rPr lang="es-ES" dirty="0" err="1"/>
              <a:t>tipografia</a:t>
            </a:r>
            <a:r>
              <a:rPr lang="es-ES" dirty="0"/>
              <a:t> la seleccione pensando en colores naturales pero con una mezcla entre colores suaves y tonos tierra que  contrastasen bastante para que la persona vea claramente en donde se esta  ubicando </a:t>
            </a:r>
            <a:endParaRPr lang="es-CR" dirty="0"/>
          </a:p>
        </p:txBody>
      </p:sp>
      <p:pic>
        <p:nvPicPr>
          <p:cNvPr id="5" name="Imagen 4">
            <a:extLst>
              <a:ext uri="{FF2B5EF4-FFF2-40B4-BE49-F238E27FC236}">
                <a16:creationId xmlns:a16="http://schemas.microsoft.com/office/drawing/2014/main" id="{5304F901-2208-0D91-7230-AC58D90A9A86}"/>
              </a:ext>
            </a:extLst>
          </p:cNvPr>
          <p:cNvPicPr>
            <a:picLocks noChangeAspect="1"/>
          </p:cNvPicPr>
          <p:nvPr/>
        </p:nvPicPr>
        <p:blipFill>
          <a:blip r:embed="rId2">
            <a:extLst>
              <a:ext uri="{28A0092B-C50C-407E-A947-70E740481C1C}">
                <a14:useLocalDpi xmlns:a14="http://schemas.microsoft.com/office/drawing/2010/main" val="0"/>
              </a:ext>
            </a:extLst>
          </a:blip>
          <a:srcRect t="38242" b="37875"/>
          <a:stretch>
            <a:fillRect/>
          </a:stretch>
        </p:blipFill>
        <p:spPr>
          <a:xfrm>
            <a:off x="624045" y="2969289"/>
            <a:ext cx="5187678" cy="2753248"/>
          </a:xfrm>
          <a:prstGeom prst="rect">
            <a:avLst/>
          </a:prstGeom>
        </p:spPr>
      </p:pic>
      <p:sp>
        <p:nvSpPr>
          <p:cNvPr id="6" name="Título 1">
            <a:extLst>
              <a:ext uri="{FF2B5EF4-FFF2-40B4-BE49-F238E27FC236}">
                <a16:creationId xmlns:a16="http://schemas.microsoft.com/office/drawing/2014/main" id="{9BC104CB-47DB-DD51-E35F-9E0C8D640113}"/>
              </a:ext>
            </a:extLst>
          </p:cNvPr>
          <p:cNvSpPr txBox="1">
            <a:spLocks/>
          </p:cNvSpPr>
          <p:nvPr/>
        </p:nvSpPr>
        <p:spPr>
          <a:xfrm>
            <a:off x="6668757" y="2960546"/>
            <a:ext cx="4414576" cy="8139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ES" dirty="0">
                <a:latin typeface="Rye" panose="020E0803070500060000" pitchFamily="34" charset="0"/>
              </a:rPr>
              <a:t>RYE</a:t>
            </a:r>
            <a:r>
              <a:rPr lang="es-ES" dirty="0"/>
              <a:t> y </a:t>
            </a:r>
            <a:r>
              <a:rPr lang="es-ES" dirty="0">
                <a:latin typeface="Montserrat" pitchFamily="2" charset="0"/>
              </a:rPr>
              <a:t>MONSERRAT</a:t>
            </a:r>
            <a:r>
              <a:rPr lang="es-ES" dirty="0"/>
              <a:t> </a:t>
            </a:r>
            <a:br>
              <a:rPr lang="es-ES" dirty="0"/>
            </a:br>
            <a:endParaRPr lang="es-CR" dirty="0"/>
          </a:p>
        </p:txBody>
      </p:sp>
      <p:sp>
        <p:nvSpPr>
          <p:cNvPr id="12" name="CuadroTexto 11">
            <a:extLst>
              <a:ext uri="{FF2B5EF4-FFF2-40B4-BE49-F238E27FC236}">
                <a16:creationId xmlns:a16="http://schemas.microsoft.com/office/drawing/2014/main" id="{79AD1A8E-B731-702D-02D6-9E0B2B8C3F1C}"/>
              </a:ext>
            </a:extLst>
          </p:cNvPr>
          <p:cNvSpPr txBox="1"/>
          <p:nvPr/>
        </p:nvSpPr>
        <p:spPr>
          <a:xfrm>
            <a:off x="6096000" y="3429000"/>
            <a:ext cx="5471955" cy="646331"/>
          </a:xfrm>
          <a:prstGeom prst="rect">
            <a:avLst/>
          </a:prstGeom>
          <a:noFill/>
        </p:spPr>
        <p:txBody>
          <a:bodyPr wrap="square" rtlCol="0">
            <a:spAutoFit/>
          </a:bodyPr>
          <a:lstStyle/>
          <a:p>
            <a:r>
              <a:rPr lang="es-ES" dirty="0"/>
              <a:t>Este es uno de los iconos que hice tratando de mantenerlos lo mas simple y </a:t>
            </a:r>
            <a:r>
              <a:rPr lang="es-ES" dirty="0" err="1"/>
              <a:t>fsciles</a:t>
            </a:r>
            <a:r>
              <a:rPr lang="es-ES" dirty="0"/>
              <a:t> de entender</a:t>
            </a:r>
            <a:endParaRPr lang="es-CR" dirty="0"/>
          </a:p>
        </p:txBody>
      </p:sp>
    </p:spTree>
    <p:extLst>
      <p:ext uri="{BB962C8B-B14F-4D97-AF65-F5344CB8AC3E}">
        <p14:creationId xmlns:p14="http://schemas.microsoft.com/office/powerpoint/2010/main" val="3785433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FEE540-A36A-CB5B-82BE-A61413A3889D}"/>
              </a:ext>
            </a:extLst>
          </p:cNvPr>
          <p:cNvSpPr>
            <a:spLocks noGrp="1"/>
          </p:cNvSpPr>
          <p:nvPr>
            <p:ph type="title"/>
          </p:nvPr>
        </p:nvSpPr>
        <p:spPr/>
        <p:txBody>
          <a:bodyPr/>
          <a:lstStyle/>
          <a:p>
            <a:r>
              <a:rPr lang="es-ES" dirty="0"/>
              <a:t>iconos</a:t>
            </a:r>
            <a:endParaRPr lang="es-CR" dirty="0"/>
          </a:p>
        </p:txBody>
      </p:sp>
      <p:pic>
        <p:nvPicPr>
          <p:cNvPr id="5" name="Imagen 4">
            <a:extLst>
              <a:ext uri="{FF2B5EF4-FFF2-40B4-BE49-F238E27FC236}">
                <a16:creationId xmlns:a16="http://schemas.microsoft.com/office/drawing/2014/main" id="{A8A9B178-F007-0DB2-A524-488E2BF29B63}"/>
              </a:ext>
            </a:extLst>
          </p:cNvPr>
          <p:cNvPicPr>
            <a:picLocks noChangeAspect="1"/>
          </p:cNvPicPr>
          <p:nvPr/>
        </p:nvPicPr>
        <p:blipFill>
          <a:blip r:embed="rId2"/>
          <a:stretch>
            <a:fillRect/>
          </a:stretch>
        </p:blipFill>
        <p:spPr>
          <a:xfrm>
            <a:off x="418262" y="1883020"/>
            <a:ext cx="2920237" cy="1633870"/>
          </a:xfrm>
          <a:prstGeom prst="rect">
            <a:avLst/>
          </a:prstGeom>
        </p:spPr>
      </p:pic>
      <p:pic>
        <p:nvPicPr>
          <p:cNvPr id="11" name="Imagen 10">
            <a:extLst>
              <a:ext uri="{FF2B5EF4-FFF2-40B4-BE49-F238E27FC236}">
                <a16:creationId xmlns:a16="http://schemas.microsoft.com/office/drawing/2014/main" id="{F5A8FF60-1CF5-ABD5-2FD2-C4F1400CF264}"/>
              </a:ext>
            </a:extLst>
          </p:cNvPr>
          <p:cNvPicPr>
            <a:picLocks noChangeAspect="1"/>
          </p:cNvPicPr>
          <p:nvPr/>
        </p:nvPicPr>
        <p:blipFill>
          <a:blip r:embed="rId3"/>
          <a:stretch>
            <a:fillRect/>
          </a:stretch>
        </p:blipFill>
        <p:spPr>
          <a:xfrm>
            <a:off x="3900196" y="1883020"/>
            <a:ext cx="2402032" cy="1523495"/>
          </a:xfrm>
          <a:prstGeom prst="rect">
            <a:avLst/>
          </a:prstGeom>
        </p:spPr>
      </p:pic>
      <p:pic>
        <p:nvPicPr>
          <p:cNvPr id="15" name="Imagen 14">
            <a:extLst>
              <a:ext uri="{FF2B5EF4-FFF2-40B4-BE49-F238E27FC236}">
                <a16:creationId xmlns:a16="http://schemas.microsoft.com/office/drawing/2014/main" id="{B2542008-7796-140E-4D7A-828323F7BF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2017" y="1860537"/>
            <a:ext cx="1621631" cy="1568463"/>
          </a:xfrm>
          <a:prstGeom prst="rect">
            <a:avLst/>
          </a:prstGeom>
        </p:spPr>
      </p:pic>
      <p:pic>
        <p:nvPicPr>
          <p:cNvPr id="17" name="Imagen 16">
            <a:extLst>
              <a:ext uri="{FF2B5EF4-FFF2-40B4-BE49-F238E27FC236}">
                <a16:creationId xmlns:a16="http://schemas.microsoft.com/office/drawing/2014/main" id="{7949EA3E-61EF-4BB7-EA70-B6FA391222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70268" y="1864384"/>
            <a:ext cx="1621632" cy="1628518"/>
          </a:xfrm>
          <a:prstGeom prst="rect">
            <a:avLst/>
          </a:prstGeom>
        </p:spPr>
      </p:pic>
      <p:pic>
        <p:nvPicPr>
          <p:cNvPr id="19" name="Imagen 18">
            <a:extLst>
              <a:ext uri="{FF2B5EF4-FFF2-40B4-BE49-F238E27FC236}">
                <a16:creationId xmlns:a16="http://schemas.microsoft.com/office/drawing/2014/main" id="{331D3D0F-C9D3-855D-6833-F7E1BDB270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6490" y="3484355"/>
            <a:ext cx="1883780" cy="2002310"/>
          </a:xfrm>
          <a:prstGeom prst="rect">
            <a:avLst/>
          </a:prstGeom>
        </p:spPr>
      </p:pic>
    </p:spTree>
    <p:extLst>
      <p:ext uri="{BB962C8B-B14F-4D97-AF65-F5344CB8AC3E}">
        <p14:creationId xmlns:p14="http://schemas.microsoft.com/office/powerpoint/2010/main" val="284423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E8516-EB65-2761-E0D0-47A8F93C572E}"/>
              </a:ext>
            </a:extLst>
          </p:cNvPr>
          <p:cNvSpPr>
            <a:spLocks noGrp="1"/>
          </p:cNvSpPr>
          <p:nvPr>
            <p:ph type="title"/>
          </p:nvPr>
        </p:nvSpPr>
        <p:spPr/>
        <p:txBody>
          <a:bodyPr/>
          <a:lstStyle/>
          <a:p>
            <a:r>
              <a:rPr lang="es-ES" dirty="0"/>
              <a:t>Accesibilidad</a:t>
            </a:r>
            <a:endParaRPr lang="es-CR" dirty="0"/>
          </a:p>
        </p:txBody>
      </p:sp>
      <p:sp>
        <p:nvSpPr>
          <p:cNvPr id="3" name="Marcador de contenido 2">
            <a:extLst>
              <a:ext uri="{FF2B5EF4-FFF2-40B4-BE49-F238E27FC236}">
                <a16:creationId xmlns:a16="http://schemas.microsoft.com/office/drawing/2014/main" id="{527E2428-E52E-9DB1-176F-FE9E379B0D1D}"/>
              </a:ext>
            </a:extLst>
          </p:cNvPr>
          <p:cNvSpPr>
            <a:spLocks noGrp="1"/>
          </p:cNvSpPr>
          <p:nvPr>
            <p:ph idx="1"/>
          </p:nvPr>
        </p:nvSpPr>
        <p:spPr>
          <a:xfrm>
            <a:off x="700634" y="1887695"/>
            <a:ext cx="10691265" cy="2959608"/>
          </a:xfrm>
        </p:spPr>
        <p:txBody>
          <a:bodyPr/>
          <a:lstStyle/>
          <a:p>
            <a:pPr marL="0" indent="0">
              <a:buNone/>
            </a:pPr>
            <a:endParaRPr lang="es-CR" dirty="0"/>
          </a:p>
          <a:p>
            <a:pPr marL="0" indent="0">
              <a:buNone/>
            </a:pPr>
            <a:r>
              <a:rPr lang="es-CR" sz="3600" dirty="0"/>
              <a:t>Algunas mejoras implementadas </a:t>
            </a:r>
          </a:p>
          <a:p>
            <a:pPr marL="0" indent="0">
              <a:buNone/>
            </a:pPr>
            <a:r>
              <a:rPr lang="es-CR" dirty="0"/>
              <a:t>Navegación fija: El menú siempre se queda en el mismo lugar para que el usuario no se pierda al avanzar en la página.</a:t>
            </a:r>
          </a:p>
          <a:p>
            <a:pPr marL="0" indent="0">
              <a:buNone/>
            </a:pPr>
            <a:r>
              <a:rPr lang="es-CR" dirty="0"/>
              <a:t>Espacios amplios: Dejé mucho espacio en blanco entre los muebles y las imágenes para que la interfaz se sienta relajada, limpia y nada amontonada</a:t>
            </a:r>
          </a:p>
        </p:txBody>
      </p:sp>
    </p:spTree>
    <p:extLst>
      <p:ext uri="{BB962C8B-B14F-4D97-AF65-F5344CB8AC3E}">
        <p14:creationId xmlns:p14="http://schemas.microsoft.com/office/powerpoint/2010/main" val="268319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04AAAD-7323-8D22-00B9-029A9144081A}"/>
              </a:ext>
            </a:extLst>
          </p:cNvPr>
          <p:cNvSpPr>
            <a:spLocks noGrp="1"/>
          </p:cNvSpPr>
          <p:nvPr>
            <p:ph type="title"/>
          </p:nvPr>
        </p:nvSpPr>
        <p:spPr/>
        <p:txBody>
          <a:bodyPr/>
          <a:lstStyle/>
          <a:p>
            <a:r>
              <a:rPr lang="es-ES" dirty="0"/>
              <a:t>Conclusión</a:t>
            </a:r>
            <a:endParaRPr lang="es-CR" dirty="0"/>
          </a:p>
        </p:txBody>
      </p:sp>
      <p:sp>
        <p:nvSpPr>
          <p:cNvPr id="3" name="Marcador de contenido 2">
            <a:extLst>
              <a:ext uri="{FF2B5EF4-FFF2-40B4-BE49-F238E27FC236}">
                <a16:creationId xmlns:a16="http://schemas.microsoft.com/office/drawing/2014/main" id="{7B5B151B-012F-EF74-8FD2-D5CC16A77B20}"/>
              </a:ext>
            </a:extLst>
          </p:cNvPr>
          <p:cNvSpPr>
            <a:spLocks noGrp="1"/>
          </p:cNvSpPr>
          <p:nvPr>
            <p:ph idx="1"/>
          </p:nvPr>
        </p:nvSpPr>
        <p:spPr>
          <a:xfrm>
            <a:off x="700635" y="1946787"/>
            <a:ext cx="11294720" cy="4015101"/>
          </a:xfrm>
        </p:spPr>
        <p:txBody>
          <a:bodyPr>
            <a:normAutofit/>
          </a:bodyPr>
          <a:lstStyle/>
          <a:p>
            <a:pPr marL="0" indent="0">
              <a:buNone/>
            </a:pPr>
            <a:r>
              <a:rPr lang="es-CR" dirty="0"/>
              <a:t>Para finalizar, la realización de este proyecto me dejó grandes aprendizajes. Aprendí el uso de </a:t>
            </a:r>
            <a:r>
              <a:rPr lang="es-CR" dirty="0" err="1"/>
              <a:t>figma</a:t>
            </a:r>
            <a:r>
              <a:rPr lang="es-CR" dirty="0"/>
              <a:t> como herramienta de prototipado de la accesibilidad ,como aplicar conceptos como accesibilidad o diseño y como punto principal  que diseñar no se trata solo de que una página se vea bonita, sino de lograr que cualquier persona, sin importar su edad, pueda usarla con facilidad.</a:t>
            </a:r>
          </a:p>
          <a:p>
            <a:pPr marL="0" indent="0">
              <a:buNone/>
            </a:pPr>
            <a:r>
              <a:rPr lang="es-CR" dirty="0"/>
              <a:t>No voy a negar que me costó un poco de trabajo dominar herramientas técnicas como el Auto </a:t>
            </a:r>
            <a:r>
              <a:rPr lang="es-CR" dirty="0" err="1"/>
              <a:t>Layout</a:t>
            </a:r>
            <a:r>
              <a:rPr lang="es-CR" dirty="0"/>
              <a:t> en Figma o cuidar minuciosamente que cada color cumpliera con las normas matemáticas de alto contraste, ya que requiere mucha precisión. Sin embargo, se hizo el mejor esfuerzo posible para estructurar un sistema de diseño sólido y el resultado final valió totalmente la pena. Logré crear una interfaz inclusiva que realmente resuelve los problemas del usuario mayor, demostrando que la tecnología puede y debe ser amigable para todos.</a:t>
            </a:r>
          </a:p>
          <a:p>
            <a:pPr marL="0" indent="0">
              <a:buNone/>
            </a:pPr>
            <a:endParaRPr lang="es-CR" dirty="0"/>
          </a:p>
        </p:txBody>
      </p:sp>
    </p:spTree>
    <p:extLst>
      <p:ext uri="{BB962C8B-B14F-4D97-AF65-F5344CB8AC3E}">
        <p14:creationId xmlns:p14="http://schemas.microsoft.com/office/powerpoint/2010/main" val="323971783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299</TotalTime>
  <Words>657</Words>
  <Application>Microsoft Office PowerPoint</Application>
  <PresentationFormat>Panorámica</PresentationFormat>
  <Paragraphs>30</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Calisto MT</vt:lpstr>
      <vt:lpstr>Montserrat</vt:lpstr>
      <vt:lpstr>Rye</vt:lpstr>
      <vt:lpstr>Univers Condensed</vt:lpstr>
      <vt:lpstr>ChronicleVTI</vt:lpstr>
      <vt:lpstr>Cortesana </vt:lpstr>
      <vt:lpstr>Introducción</vt:lpstr>
      <vt:lpstr>Investigación  </vt:lpstr>
      <vt:lpstr> Sketches Wireframes y Mockups</vt:lpstr>
      <vt:lpstr>Prototipo Figma </vt:lpstr>
      <vt:lpstr>Guia estilo y diseño  </vt:lpstr>
      <vt:lpstr>iconos</vt:lpstr>
      <vt:lpstr>Accesibilidad</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Dilan Alvarado</dc:creator>
  <cp:lastModifiedBy>Dilan Alvarado</cp:lastModifiedBy>
  <cp:revision>2</cp:revision>
  <dcterms:created xsi:type="dcterms:W3CDTF">2026-06-28T06:08:19Z</dcterms:created>
  <dcterms:modified xsi:type="dcterms:W3CDTF">2026-06-29T04:48:57Z</dcterms:modified>
</cp:coreProperties>
</file>